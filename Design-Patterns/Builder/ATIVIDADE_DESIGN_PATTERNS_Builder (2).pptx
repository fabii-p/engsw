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51F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1371600"/>
            <a:ext cx="640080" cy="64008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371600"/>
            <a:ext cx="640080" cy="64008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1371600"/>
            <a:ext cx="640080" cy="64008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1691640"/>
            <a:ext cx="365760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26080" y="1691640"/>
            <a:ext cx="365760" cy="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— DESIGN PATTERNS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projeto Criacional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5074920"/>
            <a:ext cx="5486400" cy="0"/>
          </a:xfrm>
          <a:prstGeom prst="line">
            <a:avLst/>
          </a:prstGeom>
          <a:noFill/>
          <a:ln w="12700">
            <a:solidFill>
              <a:srgbClr val="415A7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303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 </a:t>
            </a:r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em Análise e Desenvolvimento de Sistemas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577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 </a:t>
            </a:r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 II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letivo:  </a:t>
            </a:r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 </a:t>
            </a:r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Rogerio Xavier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Estudante:  </a:t>
            </a:r>
            <a:pPr indent="0" marL="0"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Vaz de Teixeira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63840" y="301752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1B263B"/>
          </a:solidFill>
          <a:ln w="12700">
            <a:solidFill>
              <a:srgbClr val="415A7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2440" y="324612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ClienteBuilder()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.CriarNovo(nome, idade)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.AdicionarContato(...)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.AdicionarEndereco(...)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Descrição do Padrão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 padrão de projeto Criacional que separa a construção de um objeto complexo da sua representação final.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processo de construção passa a criar diferentes tipos e representações de um objeto — permitindo montá-lo de forma passo a passo, ao invés de tudo de uma vez.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B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5052974"/>
            <a:ext cx="204826" cy="204826"/>
          </a:xfrm>
          <a:prstGeom prst="roundRect">
            <a:avLst>
              <a:gd name="adj" fmla="val 17857"/>
            </a:avLst>
          </a:prstGeom>
          <a:solidFill>
            <a:srgbClr val="415A77"/>
          </a:solidFill>
          <a:ln/>
        </p:spPr>
      </p:sp>
      <p:sp>
        <p:nvSpPr>
          <p:cNvPr id="7" name="Shape 5"/>
          <p:cNvSpPr/>
          <p:nvPr/>
        </p:nvSpPr>
        <p:spPr>
          <a:xfrm>
            <a:off x="1164214" y="4909596"/>
            <a:ext cx="204826" cy="204826"/>
          </a:xfrm>
          <a:prstGeom prst="roundRect">
            <a:avLst>
              <a:gd name="adj" fmla="val 17857"/>
            </a:avLst>
          </a:prstGeom>
          <a:solidFill>
            <a:srgbClr val="415A77"/>
          </a:solidFill>
          <a:ln/>
        </p:spPr>
      </p:sp>
      <p:sp>
        <p:nvSpPr>
          <p:cNvPr id="8" name="Shape 6"/>
          <p:cNvSpPr/>
          <p:nvPr/>
        </p:nvSpPr>
        <p:spPr>
          <a:xfrm>
            <a:off x="1276868" y="4766219"/>
            <a:ext cx="204826" cy="204826"/>
          </a:xfrm>
          <a:prstGeom prst="roundRect">
            <a:avLst>
              <a:gd name="adj" fmla="val 17857"/>
            </a:avLst>
          </a:prstGeom>
          <a:solidFill>
            <a:srgbClr val="415A7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13432" y="5166360"/>
            <a:ext cx="265176" cy="0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06040" y="44805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B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5052974"/>
            <a:ext cx="204826" cy="204826"/>
          </a:xfrm>
          <a:prstGeom prst="roundRect">
            <a:avLst>
              <a:gd name="adj" fmla="val 17857"/>
            </a:avLst>
          </a:prstGeom>
          <a:solidFill>
            <a:srgbClr val="415A77"/>
          </a:solidFill>
          <a:ln/>
        </p:spPr>
      </p:sp>
      <p:sp>
        <p:nvSpPr>
          <p:cNvPr id="13" name="Shape 11"/>
          <p:cNvSpPr/>
          <p:nvPr/>
        </p:nvSpPr>
        <p:spPr>
          <a:xfrm>
            <a:off x="3221614" y="4909596"/>
            <a:ext cx="204826" cy="204826"/>
          </a:xfrm>
          <a:prstGeom prst="roundRect">
            <a:avLst>
              <a:gd name="adj" fmla="val 17857"/>
            </a:avLst>
          </a:prstGeom>
          <a:solidFill>
            <a:srgbClr val="415A77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4268" y="4766219"/>
            <a:ext cx="204826" cy="204826"/>
          </a:xfrm>
          <a:prstGeom prst="roundRect">
            <a:avLst>
              <a:gd name="adj" fmla="val 17857"/>
            </a:avLst>
          </a:prstGeom>
          <a:solidFill>
            <a:srgbClr val="415A7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0604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70832" y="5166360"/>
            <a:ext cx="265176" cy="0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44805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B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66360" y="5052974"/>
            <a:ext cx="204826" cy="204826"/>
          </a:xfrm>
          <a:prstGeom prst="roundRect">
            <a:avLst>
              <a:gd name="adj" fmla="val 17857"/>
            </a:avLst>
          </a:prstGeom>
          <a:solidFill>
            <a:srgbClr val="E0A458"/>
          </a:solidFill>
          <a:ln/>
        </p:spPr>
      </p:sp>
      <p:sp>
        <p:nvSpPr>
          <p:cNvPr id="19" name="Shape 17"/>
          <p:cNvSpPr/>
          <p:nvPr/>
        </p:nvSpPr>
        <p:spPr>
          <a:xfrm>
            <a:off x="5279014" y="4909596"/>
            <a:ext cx="204826" cy="204826"/>
          </a:xfrm>
          <a:prstGeom prst="roundRect">
            <a:avLst>
              <a:gd name="adj" fmla="val 17857"/>
            </a:avLst>
          </a:prstGeom>
          <a:solidFill>
            <a:srgbClr val="E0A458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1668" y="4766219"/>
            <a:ext cx="204826" cy="204826"/>
          </a:xfrm>
          <a:prstGeom prst="roundRect">
            <a:avLst>
              <a:gd name="adj" fmla="val 17857"/>
            </a:avLst>
          </a:prstGeom>
          <a:solidFill>
            <a:srgbClr val="E0A45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5486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32320" y="137160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1B26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0664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passo a passo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219456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06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194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objeto base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06640" y="297180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06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2971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contato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06640" y="374904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6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4672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endereço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06640" y="4526280"/>
            <a:ext cx="502920" cy="50292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066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4526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(Build)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•  PADRÕES DE PROJETO CRIACIONAIS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Problema que o Padrão Busca Resolver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Builder resolve a complexidade de instanciar classes que exigem muitos parâmetros — simplificando a criação de objetos e tornando o código muito mais legível.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consumir uma API que retorna dados de uma Pessoa, agrupando informações de contato e endereço. Sem o Builder, seríamos obrigados a usar um construtor gigante (“construtor telescópico”) com todos os dados misturados.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34924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4B6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337560"/>
            <a:ext cx="411480" cy="411480"/>
          </a:xfrm>
          <a:prstGeom prst="ellipse">
            <a:avLst/>
          </a:prstGeom>
          <a:solidFill>
            <a:srgbClr val="C166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337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Builder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telescópico com dezenas de parâmetros misturando dados de pessoa, contato e endereço na mesma chamada.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800600"/>
            <a:ext cx="480060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87375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Cliente("Fulano", 20, "email@x.com",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"054", "99999999", "Farroupilha", ...)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3063240"/>
            <a:ext cx="5349240" cy="2971800"/>
          </a:xfrm>
          <a:prstGeom prst="roundRect">
            <a:avLst>
              <a:gd name="adj" fmla="val 3077"/>
            </a:avLst>
          </a:prstGeom>
          <a:solidFill>
            <a:srgbClr val="1B26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3337560"/>
            <a:ext cx="411480" cy="41148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3337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Builder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9319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distribuída: o objeto é configurado passo a passo com métodos específicos e descritivos.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4800600"/>
            <a:ext cx="480060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855464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ClienteBuilder()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.CriarNovo("Fulano", 20)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.AdicionarContato(...)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.AdicionarEndereco(...)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•  PADRÕES DE PROJETO CRIACIONAIS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Padrão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ClienteBuilder monta um Cliente por meio de métodos encadeados (method chaining)</a:t>
            </a:r>
            <a:endParaRPr lang="en-US" sz="1400" dirty="0"/>
          </a:p>
        </p:txBody>
      </p:sp>
      <p:pic>
        <p:nvPicPr>
          <p:cNvPr id="4" name="Image 0" descr="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76" y="1554480"/>
            <a:ext cx="5486400" cy="426800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•  PADRÕES DE PROJETO CRIACIONAIS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Papéis Clássicos do Builder (GoF)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GoF descreve 4 papéis. Nesta implementação em C#, o Director é substituído pelo próprio código cliente, que chama os métodos diretamente — uma variação comum chamada Fluent Builder.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5A6B7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76272"/>
            <a:ext cx="2606040" cy="246888"/>
          </a:xfrm>
          <a:prstGeom prst="rect">
            <a:avLst/>
          </a:prstGeom>
          <a:solidFill>
            <a:srgbClr val="5A6B7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abstrata que declara os passos de construção.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4069080"/>
            <a:ext cx="2240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exemplo: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49884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Omitido aqui — não há interface separada.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10712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B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9202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415A77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0712" y="2176272"/>
            <a:ext cx="2606040" cy="2468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10712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ConcreteBuilder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os passos e monta o objeto final.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93592" y="4069080"/>
            <a:ext cx="2240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93592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exemplo: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593592" y="449884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ClienteBuilder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B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72784" y="19202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415A77"/>
          </a:solidFill>
          <a:ln/>
        </p:spPr>
      </p:sp>
      <p:sp>
        <p:nvSpPr>
          <p:cNvPr id="22" name="Shape 20"/>
          <p:cNvSpPr/>
          <p:nvPr/>
        </p:nvSpPr>
        <p:spPr>
          <a:xfrm>
            <a:off x="6272784" y="2176272"/>
            <a:ext cx="2606040" cy="24688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72784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complexo que está sendo construído.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55664" y="4069080"/>
            <a:ext cx="2240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55664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exemplo: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449884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34856" y="192024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B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34856" y="19202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0A458"/>
          </a:solidFill>
          <a:ln/>
        </p:spPr>
      </p:sp>
      <p:sp>
        <p:nvSpPr>
          <p:cNvPr id="30" name="Shape 28"/>
          <p:cNvSpPr/>
          <p:nvPr/>
        </p:nvSpPr>
        <p:spPr>
          <a:xfrm>
            <a:off x="9134856" y="2176272"/>
            <a:ext cx="2606040" cy="24688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34856" y="1920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317736" y="26517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a ordem das chamadas ao Builder.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17736" y="4069080"/>
            <a:ext cx="2240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17736" y="4206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exemplo: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317736" y="449884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15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próprio código cliente (Main), via encadeamento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•  PADRÕES DE PROJETO CRIACIONAIS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 — ClienteBuilder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expõe métodos específicos que retornam o próprio builder (this), permitindo encadeamento.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937760"/>
          </a:xfrm>
          <a:prstGeom prst="roundRect">
            <a:avLst>
              <a:gd name="adj" fmla="val 1481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105156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ClienteBuilder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Cliente NovoCliente { get; } = new Cliente();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ClienteBuilder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CriarNovo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nome, int idade)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
        NovoCliente.Nome = nome;
        NovoCliente.Idade = idade;
        return this;
    }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ClienteBuilder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AdicionarContato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email, string ddd, string numero)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
        NovoCliente.Email = email;
        // ... demais atributos de contato
        return this;
    }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ClienteBuilder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AdicionarEndereco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cidade, string cep, ...)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
        NovoCliente.Cidade = cidade;
        // ... demais atributos de endereço
        return this;
    }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Cliente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=&gt; NovoCliente;
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•  PADRÕES DE PROJETO CRIACIONAIS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Uso: com e sem Builder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Builder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892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cliente = new Cliente(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"Fulano", 20,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"email@x.com", "054", "99999999",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"Farroupilha", "95181000", "RS",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67, "Centro",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"Coronel P. de Moraes"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Dá pra saber o que é cada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parâmetro só de olhar?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2344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Builder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1B26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874520"/>
            <a:ext cx="4892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cliente = new ClienteBuilder()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.CriarNovo("Fulano", 20)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.AdicionarContato(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"fulano@ifrs.aluno...",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"054", "99999999")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.AdicionarEndereco(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"Farroupilha", "95181000",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"RS", 67, "Centro",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"Coronel P. de Moraes")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.Build();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•  PADRÕES DE PROJETO CRIACIONAIS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o Builder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sinais de que vale a pena usar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084832"/>
            <a:ext cx="201168" cy="201168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1965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tem muitos parâmetros, vários opcionais.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62072"/>
            <a:ext cx="201168" cy="201168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743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quer código legível e auto-explicativo (fluent API).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39312"/>
            <a:ext cx="201168" cy="201168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520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várias combinações válidas de configuração.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416552"/>
            <a:ext cx="201168" cy="201168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4297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final deve ser imutável após pronto.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212080"/>
            <a:ext cx="48006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394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se o objeto tiver poucos atributos simples — aí o Builder é complexidade desnecessária.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80160"/>
            <a:ext cx="5349240" cy="4892040"/>
          </a:xfrm>
          <a:prstGeom prst="roundRect">
            <a:avLst>
              <a:gd name="adj" fmla="val 1869"/>
            </a:avLst>
          </a:prstGeom>
          <a:solidFill>
            <a:srgbClr val="1B26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reais do dia a dia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StringBuilder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3865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strings grandes por concatenação passo a passo (.NET/Java).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017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DbContextOptionsBuilder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3467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opções do Entity Framework antes de criar o contexto.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HttpRequestMessageBuilder / HttpClientBuilder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3068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requisições e clientes HTTP configuráveis.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E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UriBuilder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52669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uma URL peça por peça (esquema, host, path, query).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•  PADRÕES DE PROJETO CRIACIONAIS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Vantagens e Desvantagens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385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Legibilidade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128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descritivos substituem construtores com dezenas de parâmetros.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65760" cy="36576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98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passo a passo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1729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objeto é montado gradualmente, sem exigir todos os dados de uma vez.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8587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distribuída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1330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aspecto do objeto é tratado por um método próprio.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365760" cy="36576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8188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0932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processo pode gerar diferentes representações do objeto.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1965960"/>
            <a:ext cx="365760" cy="365760"/>
          </a:xfrm>
          <a:prstGeom prst="ellipse">
            <a:avLst/>
          </a:prstGeom>
          <a:solidFill>
            <a:srgbClr val="C166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19385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código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221284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uma classe builder além da classe do objeto — mais arquivos para manter.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926080"/>
            <a:ext cx="365760" cy="365760"/>
          </a:xfrm>
          <a:prstGeom prst="ellipse">
            <a:avLst/>
          </a:prstGeom>
          <a:solidFill>
            <a:srgbClr val="C166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2898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overengineering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317296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objetos simples, com poucos atributos, o padrão pode ser desnecessário.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886200"/>
            <a:ext cx="365760" cy="365760"/>
          </a:xfrm>
          <a:prstGeom prst="ellipse">
            <a:avLst/>
          </a:prstGeom>
          <a:solidFill>
            <a:srgbClr val="C1666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8587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não é garantida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413308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não obriga a chamar os métodos em uma ordem específica.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 •  PADRÕES DE PROJETO CRIACIONAIS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2026-09-27T16:54:22Z</dcterms:created>
  <dcterms:modified xsi:type="dcterms:W3CDTF">2026-09-27T16:54:22Z</dcterms:modified>
</cp:coreProperties>
</file>